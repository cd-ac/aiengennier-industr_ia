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19"/>
  </p:notesMasterIdLst>
  <p:handoutMasterIdLst>
    <p:handoutMasterId r:id="rId20"/>
  </p:handoutMasterIdLst>
  <p:sldIdLst>
    <p:sldId id="1645" r:id="rId6"/>
    <p:sldId id="1453" r:id="rId7"/>
    <p:sldId id="506" r:id="rId8"/>
    <p:sldId id="1691" r:id="rId9"/>
    <p:sldId id="1692" r:id="rId10"/>
    <p:sldId id="1693" r:id="rId11"/>
    <p:sldId id="1694" r:id="rId12"/>
    <p:sldId id="1695" r:id="rId13"/>
    <p:sldId id="1696" r:id="rId14"/>
    <p:sldId id="1697" r:id="rId15"/>
    <p:sldId id="1698" r:id="rId16"/>
    <p:sldId id="1699" r:id="rId17"/>
    <p:sldId id="1690" r:id="rId18"/>
  </p:sldIdLst>
  <p:sldSz cx="18288000" cy="10287000"/>
  <p:notesSz cx="6797675" cy="9926638"/>
  <p:defaultTextStyle>
    <a:defPPr>
      <a:defRPr lang="uk-UA"/>
    </a:defPPr>
    <a:lvl1pPr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684213" indent="-2270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1370013" indent="-4556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2055813" indent="-6842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2741613" indent="-9128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" lastIdx="16" clrIdx="0"/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0808"/>
    <a:srgbClr val="4A879B"/>
    <a:srgbClr val="000000"/>
    <a:srgbClr val="23AAD5"/>
    <a:srgbClr val="64D4EA"/>
    <a:srgbClr val="4CCCE6"/>
    <a:srgbClr val="6CD5EA"/>
    <a:srgbClr val="2BC3E1"/>
    <a:srgbClr val="5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76ED8B-EDEE-4A86-B7F4-4A27CA508FFF}" v="243" dt="2025-11-13T17:22:41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 autoAdjust="0"/>
    <p:restoredTop sz="96054" autoAdjust="0"/>
  </p:normalViewPr>
  <p:slideViewPr>
    <p:cSldViewPr snapToGrid="0">
      <p:cViewPr>
        <p:scale>
          <a:sx n="50" d="100"/>
          <a:sy n="50" d="100"/>
        </p:scale>
        <p:origin x="1056" y="125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2038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DB103A6-3FDE-BF44-9EF9-0C306F3572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B789A1-58BA-ED69-6E2F-D4CD02C3FC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E479A4E-A5BE-4C7B-A3CE-68A2AA34EFD1}" type="datetimeFigureOut">
              <a:rPr lang="es-ES"/>
              <a:pPr>
                <a:defRPr/>
              </a:pPr>
              <a:t>13/11/2025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9874A6-13E3-3FB7-8DF8-752557671B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5DD5AA-4319-516F-65F7-5AF97BF07B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2CF873F-5E5A-4329-878F-30ED9CF66038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0BAC18-93F4-28FB-1102-7C38C1ED51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8701F-2012-BC92-91F0-0194F17B7E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8B2F58-F5DB-425E-A333-3A7C2DB1F138}" type="datetimeFigureOut">
              <a:rPr lang="uk-UA"/>
              <a:pPr>
                <a:defRPr/>
              </a:pPr>
              <a:t>13.11.2025</a:t>
            </a:fld>
            <a:endParaRPr lang="uk-UA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043A52-9FF6-8528-7291-E44C83669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EE130D1-3C7B-7646-B076-B5AC0EC88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uk-U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FD6D7-720B-A16F-F7DD-5D619F3329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2CCEB-D86D-D666-E9BB-57DFA8D74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1050379-8E05-418E-9D09-1B86B18401A1}" type="slidenum">
              <a:rPr lang="uk-UA"/>
              <a:pPr>
                <a:defRPr/>
              </a:pPr>
              <a:t>‹Nº›</a:t>
            </a:fld>
            <a:endParaRPr lang="uk-U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75C5C2E-BA07-275E-48B8-5E19DF11AAF1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04429911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B3EC1-F5E6-26FE-562A-E02681CB3FC4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215414445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F36418-2264-B9F0-9E24-B11A23913B0F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234681357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E1FFFA-1F0D-8D13-CB4B-0705E84B5259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726748384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>
            <a:extLst>
              <a:ext uri="{FF2B5EF4-FFF2-40B4-BE49-F238E27FC236}">
                <a16:creationId xmlns:a16="http://schemas.microsoft.com/office/drawing/2014/main" id="{8855C092-88C2-E023-C1C4-02E4A82A07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924083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1774472"/>
      </p:ext>
    </p:extLst>
  </p:cSld>
  <p:clrMapOvr>
    <a:masterClrMapping/>
  </p:clrMapOvr>
  <p:transition spd="slow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6E224169-0040-8330-BF9D-4598A75F3B65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890426617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755981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BDB5C-279C-EB8C-E11D-5B0A86EAC6DB}"/>
              </a:ext>
            </a:extLst>
          </p:cNvPr>
          <p:cNvCxnSpPr/>
          <p:nvPr userDrawn="1"/>
        </p:nvCxnSpPr>
        <p:spPr>
          <a:xfrm>
            <a:off x="16744950" y="9186863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6F2959D-ABDD-0103-D652-CE4A4FA4D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92613" y="9072563"/>
            <a:ext cx="1733550" cy="92392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defTabSz="1371408" eaLnBrk="1" fontAlgn="auto" hangingPunct="1">
              <a:spcBef>
                <a:spcPts val="0"/>
              </a:spcBef>
              <a:spcAft>
                <a:spcPts val="0"/>
              </a:spcAft>
              <a:defRPr lang="uk-UA" sz="27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s-ES_tradnl"/>
              <a:t>Pag.</a:t>
            </a:r>
          </a:p>
          <a:p>
            <a:pPr>
              <a:defRPr/>
            </a:pPr>
            <a:fld id="{8FBDFEF4-A30B-4948-8CCC-87E7904047D6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  <p:pic>
        <p:nvPicPr>
          <p:cNvPr id="1028" name="Imagen 2" descr="Texto&#10;&#10;Descripción generada automáticamente">
            <a:extLst>
              <a:ext uri="{FF2B5EF4-FFF2-40B4-BE49-F238E27FC236}">
                <a16:creationId xmlns:a16="http://schemas.microsoft.com/office/drawing/2014/main" id="{17E08603-E898-9295-1290-B020FADC22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9255125"/>
            <a:ext cx="3317875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93" r:id="rId1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C7CBA289-6F34-BF46-9708-30EE0764B638}"/>
              </a:ext>
            </a:extLst>
          </p:cNvPr>
          <p:cNvSpPr/>
          <p:nvPr/>
        </p:nvSpPr>
        <p:spPr>
          <a:xfrm>
            <a:off x="0" y="0"/>
            <a:ext cx="18288000" cy="900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sz="8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908D040-0B67-AB73-0E77-18B458B99BA4}"/>
              </a:ext>
            </a:extLst>
          </p:cNvPr>
          <p:cNvSpPr/>
          <p:nvPr/>
        </p:nvSpPr>
        <p:spPr>
          <a:xfrm>
            <a:off x="0" y="9040813"/>
            <a:ext cx="18288000" cy="124618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1E47B867-54C8-3D82-198A-7E92722B6B15}"/>
              </a:ext>
            </a:extLst>
          </p:cNvPr>
          <p:cNvSpPr txBox="1"/>
          <p:nvPr/>
        </p:nvSpPr>
        <p:spPr>
          <a:xfrm>
            <a:off x="2673350" y="2749550"/>
            <a:ext cx="12941300" cy="313930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6600" b="1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Plataforma de Industria 4.0 basada en IA para predecir fallas en máquinas industriales.</a:t>
            </a:r>
            <a:endParaRPr lang="es-ES_tradnl" sz="6600" b="1" dirty="0">
              <a:solidFill>
                <a:schemeClr val="accent4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7C9A8544-3377-6740-777A-191B0A0FD1FE}"/>
              </a:ext>
            </a:extLst>
          </p:cNvPr>
          <p:cNvSpPr txBox="1"/>
          <p:nvPr/>
        </p:nvSpPr>
        <p:spPr>
          <a:xfrm>
            <a:off x="307975" y="6381750"/>
            <a:ext cx="17795875" cy="6461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HAROL ESTEVEZ</a:t>
            </a:r>
          </a:p>
        </p:txBody>
      </p:sp>
      <p:grpSp>
        <p:nvGrpSpPr>
          <p:cNvPr id="10246" name="Agrupar 33">
            <a:extLst>
              <a:ext uri="{FF2B5EF4-FFF2-40B4-BE49-F238E27FC236}">
                <a16:creationId xmlns:a16="http://schemas.microsoft.com/office/drawing/2014/main" id="{C2BA2C58-A75D-DD6B-D2BB-BF7DEC7DDC4A}"/>
              </a:ext>
            </a:extLst>
          </p:cNvPr>
          <p:cNvGrpSpPr>
            <a:grpSpLocks/>
          </p:cNvGrpSpPr>
          <p:nvPr/>
        </p:nvGrpSpPr>
        <p:grpSpPr bwMode="auto">
          <a:xfrm>
            <a:off x="2480138" y="2455863"/>
            <a:ext cx="795337" cy="708025"/>
            <a:chOff x="1406133" y="686869"/>
            <a:chExt cx="2648037" cy="2353739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66D4729-E373-0335-D97C-700758834A58}"/>
                </a:ext>
              </a:extLst>
            </p:cNvPr>
            <p:cNvCxnSpPr/>
            <p:nvPr/>
          </p:nvCxnSpPr>
          <p:spPr>
            <a:xfrm>
              <a:off x="1406133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C9A93305-4728-07AD-9812-D02D5093C586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7" name="Agrupar 36">
            <a:extLst>
              <a:ext uri="{FF2B5EF4-FFF2-40B4-BE49-F238E27FC236}">
                <a16:creationId xmlns:a16="http://schemas.microsoft.com/office/drawing/2014/main" id="{761E7CAE-AEA3-72A9-04DA-38C90AA71764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5177727" y="5581650"/>
            <a:ext cx="795338" cy="708025"/>
            <a:chOff x="1406133" y="686869"/>
            <a:chExt cx="2648037" cy="2353739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45E4F850-5A55-DD14-C1DD-1B2F1590771D}"/>
                </a:ext>
              </a:extLst>
            </p:cNvPr>
            <p:cNvCxnSpPr/>
            <p:nvPr/>
          </p:nvCxnSpPr>
          <p:spPr>
            <a:xfrm>
              <a:off x="1390278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7CC0CBF6-927B-98E6-93DB-B41E57802946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48" name="Imagen 2" descr="Texto&#10;&#10;Descripción generada automáticamente">
            <a:extLst>
              <a:ext uri="{FF2B5EF4-FFF2-40B4-BE49-F238E27FC236}">
                <a16:creationId xmlns:a16="http://schemas.microsoft.com/office/drawing/2014/main" id="{D9DF2784-9D10-2A0E-857E-6420C294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924718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0AACB4-37C9-631F-D824-D68F3963DF6E}"/>
              </a:ext>
            </a:extLst>
          </p:cNvPr>
          <p:cNvSpPr/>
          <p:nvPr/>
        </p:nvSpPr>
        <p:spPr>
          <a:xfrm rot="5400000" flipH="1" flipV="1">
            <a:off x="-571500" y="571500"/>
            <a:ext cx="10287000" cy="9144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11267" name="TextBox 11">
            <a:extLst>
              <a:ext uri="{FF2B5EF4-FFF2-40B4-BE49-F238E27FC236}">
                <a16:creationId xmlns:a16="http://schemas.microsoft.com/office/drawing/2014/main" id="{A4D2A3A6-0219-A1DE-1740-4561659C4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1363767"/>
            <a:ext cx="777557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01 -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Introducción y Motivación</a:t>
            </a:r>
          </a:p>
        </p:txBody>
      </p:sp>
      <p:sp>
        <p:nvSpPr>
          <p:cNvPr id="11268" name="TextBox 12">
            <a:extLst>
              <a:ext uri="{FF2B5EF4-FFF2-40B4-BE49-F238E27FC236}">
                <a16:creationId xmlns:a16="http://schemas.microsoft.com/office/drawing/2014/main" id="{EAE24E02-C983-D9F2-F836-C95A80250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2141647"/>
            <a:ext cx="7442200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del Proyecto</a:t>
            </a:r>
          </a:p>
        </p:txBody>
      </p:sp>
      <p:sp>
        <p:nvSpPr>
          <p:cNvPr id="11269" name="TextBox 13">
            <a:extLst>
              <a:ext uri="{FF2B5EF4-FFF2-40B4-BE49-F238E27FC236}">
                <a16:creationId xmlns:a16="http://schemas.microsoft.com/office/drawing/2014/main" id="{C2985358-B77C-6442-0600-697E117DE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2919527"/>
            <a:ext cx="762317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  <a:endParaRPr lang="es-ES_tradnl" alt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0" name="TextBox 15">
            <a:extLst>
              <a:ext uri="{FF2B5EF4-FFF2-40B4-BE49-F238E27FC236}">
                <a16:creationId xmlns:a16="http://schemas.microsoft.com/office/drawing/2014/main" id="{83F17EC8-741F-A1B1-4D2E-888C0DEAA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3697407"/>
            <a:ext cx="769302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Tecnológica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7E362-AFCF-D159-A0C1-BE8D275A3B84}"/>
              </a:ext>
            </a:extLst>
          </p:cNvPr>
          <p:cNvSpPr txBox="1"/>
          <p:nvPr/>
        </p:nvSpPr>
        <p:spPr>
          <a:xfrm>
            <a:off x="685800" y="4213225"/>
            <a:ext cx="7772400" cy="18462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1140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E5BA54C9-6A1E-CB00-30C9-B25055D3E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4475287"/>
            <a:ext cx="769302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del Modelo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B977BC5B-7F89-5176-7EFF-889A9F3F9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5253167"/>
            <a:ext cx="769302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del Entrenamiento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83A78656-490D-E48E-C854-A607A6E5E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6031047"/>
            <a:ext cx="769302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de Evaluación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97EF5277-3C36-BB61-C0D5-4C99FC81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6808927"/>
            <a:ext cx="769302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Discusión de Métricas</a:t>
            </a: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FB46BAC3-2DB0-8867-2164-DA9BD0CD5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7586807"/>
            <a:ext cx="769302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Validación Económica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DB8FF754-0596-A1F2-493A-5E0D4262D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953" y="8364688"/>
            <a:ext cx="7693025" cy="5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10 - </a:t>
            </a:r>
            <a:r>
              <a:rPr lang="es-ES_tradnl" altLang="es-CO" sz="32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519F538-C7C2-198F-4468-DE08FE48C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y Motivación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B7A053FA-5D18-44F9-E837-1135C6681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3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1A81B9-E091-5748-42C3-CB66864FBE04}"/>
              </a:ext>
            </a:extLst>
          </p:cNvPr>
          <p:cNvSpPr txBox="1"/>
          <p:nvPr/>
        </p:nvSpPr>
        <p:spPr>
          <a:xfrm>
            <a:off x="1341120" y="1596375"/>
            <a:ext cx="15605760" cy="709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industria manufacturera, especialmente el sector de consumo masivo en Colombia depende de máquinas industriales de envasado vertical que operan a alta velocidad y en turnos continuos (24/7). Estas máquinas son el corazón del proceso productivo, donde incluso pequeñas interrupciones impactan directamente la capacidad de entrega y la rentabilidad.</a:t>
            </a:r>
          </a:p>
          <a:p>
            <a:pPr>
              <a:buNone/>
            </a:pPr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Central</a:t>
            </a:r>
            <a:br>
              <a:rPr lang="es-E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paradas no planificadas representan una de las mayores amenazas operativas.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Generan pérdidas millonarias por tiempo de inactividad y desperdicio de material.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Son el principal factor que reduce la Eficiencia Global de los Equipos.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Dificultan la planificación y comprometen los acuerdos de entrega con los clientes.</a:t>
            </a:r>
          </a:p>
          <a:p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Ineficiencia Actual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Mantenimiento Reactivo: Es costoso e impredecible.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Mantenimiento Preventivo: Ineficiente; intervienen piezas que aún funcionan.</a:t>
            </a:r>
          </a:p>
          <a:p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Solución</a:t>
            </a:r>
            <a:br>
              <a:rPr lang="es-E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3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Adoptar un enfoque de Mantenimiento Predictivo (PdM) que permita anticipar los fallos antes de que ocurran, usando análisis de datos y aprendizaje automático para maximizar la disponibilidad de las máquinas, reducir costos y mejorar los tiempos de producción.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154E-86B5-EC76-6204-4D6908BB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E942CC1-7474-AC3E-E545-5BB0F0AEA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del Proyecto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67549C3A-3ACF-D610-CCB1-014C15D9A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4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DA385D-BC49-C933-6561-268BE22475F2}"/>
              </a:ext>
            </a:extLst>
          </p:cNvPr>
          <p:cNvSpPr txBox="1"/>
          <p:nvPr/>
        </p:nvSpPr>
        <p:spPr>
          <a:xfrm>
            <a:off x="1341120" y="2327344"/>
            <a:ext cx="156057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  <a:p>
            <a:pPr>
              <a:buNone/>
            </a:pPr>
            <a:br>
              <a:rPr lang="es-E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Diseñar, desarrollar y validar la plataforma </a:t>
            </a: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Industr_IA</a:t>
            </a: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cuyo núcleo es un modelo de IA (LSTM), capaz de predecir fallos en máquinas envasadoras con una ventana de 48 a 72 horas de anticipación.</a:t>
            </a:r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  <a:p>
            <a:pPr>
              <a:buNone/>
            </a:pPr>
            <a:endParaRPr lang="es-ES" sz="2800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Analizar datos de sensores (EDA) para identificar patrones de pre-falla.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Diseñar una arquitectura de referencia serverless y escalable en AWS.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Construir y entrenar un modelo LSTM, gestionando el desbalance de clases.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Evaluar el modelo con métricas de negocio.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Demostrar la viabilidad económica del proyecto.</a:t>
            </a:r>
          </a:p>
        </p:txBody>
      </p:sp>
    </p:spTree>
    <p:extLst>
      <p:ext uri="{BB962C8B-B14F-4D97-AF65-F5344CB8AC3E}">
        <p14:creationId xmlns:p14="http://schemas.microsoft.com/office/powerpoint/2010/main" val="112784376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006A-A44A-52F6-29D2-C5097C67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FE27B53-3BE7-3DAD-B840-4C545F40C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6042AC06-301E-BD37-C0B0-D0EF9412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5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C1A5CE-6632-112D-D710-3691D1C086FA}"/>
              </a:ext>
            </a:extLst>
          </p:cNvPr>
          <p:cNvSpPr txBox="1"/>
          <p:nvPr/>
        </p:nvSpPr>
        <p:spPr>
          <a:xfrm>
            <a:off x="1341120" y="1619458"/>
            <a:ext cx="1560576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Marco de Trabajo</a:t>
            </a:r>
          </a:p>
          <a:p>
            <a:pPr>
              <a:buNone/>
            </a:pPr>
            <a:br>
              <a:rPr lang="es-E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adoptó la metodología </a:t>
            </a: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CRISP-DM</a:t>
            </a: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cubriendo el ciclo de vida completo del proyecto partiendo desde el entendimiento del problema de negocio, análisis y preparación de los datos, modelado, evaluación y por ultimo el despliegue.</a:t>
            </a:r>
          </a:p>
          <a:p>
            <a:pPr>
              <a:buNone/>
            </a:pPr>
            <a:endParaRPr lang="es-E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  <a:p>
            <a:pPr>
              <a:buNone/>
            </a:pPr>
            <a:endParaRPr lang="es-E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Sensores y PLCs de máquinas envasadoras.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Tipo: Series temporales multivariadas.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Clave: Vibración, Temperatura, Consumo de Corriente, Presión Neumática.</a:t>
            </a:r>
          </a:p>
          <a:p>
            <a:pPr>
              <a:buNone/>
            </a:pPr>
            <a:endParaRPr lang="es-E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Desafío Principal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Fuerte desbalance de clases, 95% de los datos corresponden a operación "Normal" y solo un 5% a "Pre-falla".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exige técnicas especiales para evitar que el modelo ignore los fallos como la Técnica de Generación Sintética de Muestras para la Clase Minoritaria (SMOTE).</a:t>
            </a:r>
          </a:p>
        </p:txBody>
      </p:sp>
    </p:spTree>
    <p:extLst>
      <p:ext uri="{BB962C8B-B14F-4D97-AF65-F5344CB8AC3E}">
        <p14:creationId xmlns:p14="http://schemas.microsoft.com/office/powerpoint/2010/main" val="3961139463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59EF2-3E0D-9D64-6963-CF08C8DCB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1AB1824-A512-2A5E-A710-BA97AA854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Tecnológica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A22F574B-41A3-1406-33EC-ABB349C92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6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0F0761-D92E-FEA2-6073-AC4675B3A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630" y="1393007"/>
            <a:ext cx="13540740" cy="750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8784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7E8EA-95CF-F077-D2E1-068A2F45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484FD288-1B9C-7032-0E88-8A79C2BB9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7254875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del Modelo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EFD09D79-4371-ED5D-1DD8-CC9054CD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7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D43A51B-E3E9-C7A3-8B42-9F8439FD3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59" y="1118873"/>
            <a:ext cx="10553682" cy="841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1093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7CD3-3A05-4AAC-8756-1757AB55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C0B2E0F-4488-C100-E001-8F684B4DC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64980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del Entrenamiento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96EF6A16-0D48-FE95-E8E8-F73D27F20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8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7AA42F-0A34-BD79-A519-39E0D9C71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8" y="2445372"/>
            <a:ext cx="17274283" cy="539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2048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CEDAE-9EC4-6178-BB39-F081E3F1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A34B13A-A169-25D3-7451-EFB29E54F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64980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de Evaluación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13AFCE39-24D4-CA36-79DB-999A4C865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9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0B7470-C391-E6A0-3C7E-3D2B5B202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29" y="1663403"/>
            <a:ext cx="8570677" cy="7114837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6FE735C-C7D6-E721-22FC-78180D75D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07986"/>
              </p:ext>
            </p:extLst>
          </p:nvPr>
        </p:nvGraphicFramePr>
        <p:xfrm>
          <a:off x="10652760" y="3957637"/>
          <a:ext cx="6842760" cy="237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145">
                  <a:extLst>
                    <a:ext uri="{9D8B030D-6E8A-4147-A177-3AD203B41FA5}">
                      <a16:colId xmlns:a16="http://schemas.microsoft.com/office/drawing/2014/main" val="64264044"/>
                    </a:ext>
                  </a:extLst>
                </a:gridCol>
                <a:gridCol w="1900766">
                  <a:extLst>
                    <a:ext uri="{9D8B030D-6E8A-4147-A177-3AD203B41FA5}">
                      <a16:colId xmlns:a16="http://schemas.microsoft.com/office/drawing/2014/main" val="1303102471"/>
                    </a:ext>
                  </a:extLst>
                </a:gridCol>
                <a:gridCol w="1793849">
                  <a:extLst>
                    <a:ext uri="{9D8B030D-6E8A-4147-A177-3AD203B41FA5}">
                      <a16:colId xmlns:a16="http://schemas.microsoft.com/office/drawing/2014/main" val="1275807747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 dirty="0">
                          <a:solidFill>
                            <a:schemeClr val="bg1"/>
                          </a:solidFill>
                        </a:rPr>
                        <a:t>Valor Predictor</a:t>
                      </a:r>
                      <a:endParaRPr lang="uk-UA" sz="2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 dirty="0">
                          <a:solidFill>
                            <a:schemeClr val="bg1"/>
                          </a:solidFill>
                        </a:rPr>
                        <a:t>Normal</a:t>
                      </a:r>
                      <a:endParaRPr lang="uk-UA" sz="2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 dirty="0">
                          <a:solidFill>
                            <a:schemeClr val="bg1"/>
                          </a:solidFill>
                        </a:rPr>
                        <a:t>Falla</a:t>
                      </a:r>
                      <a:endParaRPr lang="uk-UA" sz="2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68016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566C"/>
                          </a:solidFill>
                        </a:rPr>
                        <a:t>Normal</a:t>
                      </a:r>
                      <a:endParaRPr lang="uk-UA" sz="2400" b="1" dirty="0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tx1"/>
                          </a:solidFill>
                        </a:rPr>
                        <a:t>31,788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1,086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5506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566C"/>
                          </a:solidFill>
                        </a:rPr>
                        <a:t>Falla</a:t>
                      </a:r>
                      <a:endParaRPr lang="uk-UA" sz="2400" b="1" dirty="0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tx1"/>
                          </a:solidFill>
                        </a:rPr>
                        <a:t>816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tx1"/>
                          </a:solidFill>
                        </a:rPr>
                        <a:t>18,721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265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33912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B3D3-DD98-4164-FE03-995CC52EE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8CDD176-E330-09A2-19BA-946B38877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64980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Discusión de Métricas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E294EFB0-7998-7167-8958-41D5A2BE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10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Table 29">
            <a:extLst>
              <a:ext uri="{FF2B5EF4-FFF2-40B4-BE49-F238E27FC236}">
                <a16:creationId xmlns:a16="http://schemas.microsoft.com/office/drawing/2014/main" id="{AE6CB6AB-AA23-D4D2-B82E-1A0C6F838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627411"/>
              </p:ext>
            </p:extLst>
          </p:nvPr>
        </p:nvGraphicFramePr>
        <p:xfrm>
          <a:off x="3291840" y="2360295"/>
          <a:ext cx="11704320" cy="556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lvl="0" algn="ctr"/>
                      <a:r>
                        <a:rPr lang="es-CO" sz="2900" b="1" noProof="0" dirty="0">
                          <a:solidFill>
                            <a:schemeClr val="bg1"/>
                          </a:solidFill>
                        </a:rPr>
                        <a:t>Métrica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CO" sz="2900" b="1" noProof="0" dirty="0">
                          <a:solidFill>
                            <a:schemeClr val="bg1"/>
                          </a:solidFill>
                        </a:rPr>
                        <a:t>Normal (0)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CO" sz="2900" b="1" noProof="0" dirty="0">
                          <a:solidFill>
                            <a:schemeClr val="bg1"/>
                          </a:solidFill>
                        </a:rPr>
                        <a:t>Fallo (1)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s-CO" sz="2900" b="1" noProof="0" dirty="0">
                          <a:solidFill>
                            <a:schemeClr val="bg1"/>
                          </a:solidFill>
                        </a:rPr>
                        <a:t>Promedio Global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s-CO" sz="2400" b="1" noProof="0" dirty="0">
                          <a:solidFill>
                            <a:srgbClr val="00566C"/>
                          </a:solidFill>
                        </a:rPr>
                        <a:t>Precisión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noProof="0" dirty="0">
                          <a:solidFill>
                            <a:schemeClr val="tx1"/>
                          </a:solidFill>
                        </a:rPr>
                        <a:t>97%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noProof="0" dirty="0">
                          <a:solidFill>
                            <a:schemeClr val="tx1"/>
                          </a:solidFill>
                        </a:rPr>
                        <a:t>97%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000" noProof="0" dirty="0">
                          <a:solidFill>
                            <a:schemeClr val="tx1"/>
                          </a:solidFill>
                        </a:rPr>
                        <a:t>96%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s-CO" sz="2400" b="1" noProof="0" dirty="0">
                          <a:solidFill>
                            <a:srgbClr val="00566C"/>
                          </a:solidFill>
                        </a:rPr>
                        <a:t>Recall (Sensibilidad)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97%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96%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96%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s-CO" sz="2400" b="1" noProof="0" dirty="0">
                          <a:solidFill>
                            <a:srgbClr val="00566C"/>
                          </a:solidFill>
                        </a:rPr>
                        <a:t>F1-Score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97%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95%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96%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s-CO" sz="2400" b="1" noProof="0" dirty="0">
                          <a:solidFill>
                            <a:srgbClr val="00566C"/>
                          </a:solidFill>
                        </a:rPr>
                        <a:t>Exactitud (Accuracy)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96,37%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s-ES" sz="2400" b="1" noProof="0" dirty="0">
                          <a:solidFill>
                            <a:srgbClr val="00566C"/>
                          </a:solidFill>
                        </a:rPr>
                        <a:t>AUC (Área bajo la curva)</a:t>
                      </a:r>
                      <a:endParaRPr lang="es-CO" sz="2400" b="1" noProof="0" dirty="0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99,58%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s-CO" sz="2400" b="1" noProof="0" dirty="0">
                          <a:solidFill>
                            <a:srgbClr val="00566C"/>
                          </a:solidFill>
                        </a:rPr>
                        <a:t>Pérdida (Loss)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noProof="0" dirty="0">
                          <a:solidFill>
                            <a:schemeClr val="tx1"/>
                          </a:solidFill>
                        </a:rPr>
                        <a:t>7,33%</a:t>
                      </a:r>
                      <a:endParaRPr lang="es-CO" sz="20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315965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81A9C-A13A-A540-6259-3B18E491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99FB564-2A61-533E-3585-E027041C5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64980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Validación Económica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59678DBD-FD70-EF7E-CA29-BF7B583B8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11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7B258C39-58F3-5EB7-96CF-8B84A0AB6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328" y="1658706"/>
            <a:ext cx="96774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Costo Total Anual por Paradas</a:t>
            </a:r>
          </a:p>
          <a:p>
            <a:pPr eaLnBrk="1" hangingPunct="1"/>
            <a:r>
              <a:rPr lang="es-ES_tradnl" altLang="es-CO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 Industr-IA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ADDA9F-4220-FB3A-B5ED-0133A655198C}"/>
              </a:ext>
            </a:extLst>
          </p:cNvPr>
          <p:cNvCxnSpPr/>
          <p:nvPr/>
        </p:nvCxnSpPr>
        <p:spPr>
          <a:xfrm>
            <a:off x="6785928" y="1504719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4E06DC4-185B-032F-13D3-400F5A04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871" y="1596794"/>
            <a:ext cx="5387657" cy="132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algn="r" eaLnBrk="1" hangingPunct="1"/>
            <a:r>
              <a:rPr lang="es-ES_tradnl" altLang="es-CO" sz="8000" b="1" dirty="0">
                <a:solidFill>
                  <a:srgbClr val="DC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€160,000</a:t>
            </a:r>
          </a:p>
        </p:txBody>
      </p:sp>
      <p:sp>
        <p:nvSpPr>
          <p:cNvPr id="5" name="TextBox 30">
            <a:extLst>
              <a:ext uri="{FF2B5EF4-FFF2-40B4-BE49-F238E27FC236}">
                <a16:creationId xmlns:a16="http://schemas.microsoft.com/office/drawing/2014/main" id="{17F70544-A886-F9F4-B30E-1282EA1DE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328" y="3654829"/>
            <a:ext cx="96774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Ahorro Bruto Anual</a:t>
            </a:r>
          </a:p>
          <a:p>
            <a:pPr eaLnBrk="1" hangingPunct="1"/>
            <a:r>
              <a:rPr lang="es-ES_tradnl" altLang="es-CO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Industr-IA</a:t>
            </a:r>
          </a:p>
        </p:txBody>
      </p:sp>
      <p:cxnSp>
        <p:nvCxnSpPr>
          <p:cNvPr id="6" name="Straight Connector 2">
            <a:extLst>
              <a:ext uri="{FF2B5EF4-FFF2-40B4-BE49-F238E27FC236}">
                <a16:creationId xmlns:a16="http://schemas.microsoft.com/office/drawing/2014/main" id="{C2BF2E01-B16D-A683-E395-E0321F34C129}"/>
              </a:ext>
            </a:extLst>
          </p:cNvPr>
          <p:cNvCxnSpPr/>
          <p:nvPr/>
        </p:nvCxnSpPr>
        <p:spPr>
          <a:xfrm>
            <a:off x="6785928" y="3502429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3">
            <a:extLst>
              <a:ext uri="{FF2B5EF4-FFF2-40B4-BE49-F238E27FC236}">
                <a16:creationId xmlns:a16="http://schemas.microsoft.com/office/drawing/2014/main" id="{0D2BEC8A-3D7E-7086-A047-74D558AA3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" y="3592916"/>
            <a:ext cx="5570538" cy="132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algn="r" eaLnBrk="1" hangingPunct="1"/>
            <a:r>
              <a:rPr lang="es-ES_tradnl" altLang="es-CO" sz="8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€124,800</a:t>
            </a:r>
          </a:p>
        </p:txBody>
      </p:sp>
      <p:sp>
        <p:nvSpPr>
          <p:cNvPr id="9" name="TextBox 30">
            <a:extLst>
              <a:ext uri="{FF2B5EF4-FFF2-40B4-BE49-F238E27FC236}">
                <a16:creationId xmlns:a16="http://schemas.microsoft.com/office/drawing/2014/main" id="{9B677A39-DD1E-0FCD-A45D-F1D77BA3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328" y="5652539"/>
            <a:ext cx="11330622" cy="1446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eaLnBrk="1" hangingPunct="1"/>
            <a:r>
              <a:rPr lang="es-ES_tradnl" altLang="es-CO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Costo de Implementación </a:t>
            </a:r>
          </a:p>
          <a:p>
            <a:pPr eaLnBrk="1" hangingPunct="1"/>
            <a:r>
              <a:rPr lang="es-ES_tradnl" altLang="es-CO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y Adaptación de Maquinas</a:t>
            </a:r>
          </a:p>
        </p:txBody>
      </p:sp>
      <p:cxnSp>
        <p:nvCxnSpPr>
          <p:cNvPr id="10" name="Straight Connector 2">
            <a:extLst>
              <a:ext uri="{FF2B5EF4-FFF2-40B4-BE49-F238E27FC236}">
                <a16:creationId xmlns:a16="http://schemas.microsoft.com/office/drawing/2014/main" id="{5C56BEAB-6C42-6E3D-A176-041E4649AF08}"/>
              </a:ext>
            </a:extLst>
          </p:cNvPr>
          <p:cNvCxnSpPr/>
          <p:nvPr/>
        </p:nvCxnSpPr>
        <p:spPr>
          <a:xfrm>
            <a:off x="6785928" y="5498551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3">
            <a:extLst>
              <a:ext uri="{FF2B5EF4-FFF2-40B4-BE49-F238E27FC236}">
                <a16:creationId xmlns:a16="http://schemas.microsoft.com/office/drawing/2014/main" id="{2392840A-FB11-A431-A118-65B03FC26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2928" y="5590626"/>
            <a:ext cx="4419600" cy="132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algn="r" eaLnBrk="1" hangingPunct="1"/>
            <a:r>
              <a:rPr lang="es-ES_tradnl" altLang="es-CO" sz="8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€55,000</a:t>
            </a: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C4B2CD7B-FD3C-FCC1-A1EC-12E3059B3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328" y="7606984"/>
            <a:ext cx="96774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eaLnBrk="1" hangingPunct="1"/>
            <a:r>
              <a:rPr lang="es-ES_tradnl" altLang="es-CO" sz="4400" b="1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Retorno de Inversión</a:t>
            </a:r>
          </a:p>
          <a:p>
            <a:pPr eaLnBrk="1" hangingPunct="1"/>
            <a:r>
              <a:rPr lang="es-ES_tradnl" altLang="es-CO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 Año</a:t>
            </a:r>
          </a:p>
        </p:txBody>
      </p:sp>
      <p:cxnSp>
        <p:nvCxnSpPr>
          <p:cNvPr id="13" name="Straight Connector 2">
            <a:extLst>
              <a:ext uri="{FF2B5EF4-FFF2-40B4-BE49-F238E27FC236}">
                <a16:creationId xmlns:a16="http://schemas.microsoft.com/office/drawing/2014/main" id="{65CF2BF3-7EA7-80C3-D85B-B55FF9BA4137}"/>
              </a:ext>
            </a:extLst>
          </p:cNvPr>
          <p:cNvCxnSpPr/>
          <p:nvPr/>
        </p:nvCxnSpPr>
        <p:spPr>
          <a:xfrm>
            <a:off x="6785928" y="7452996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">
            <a:extLst>
              <a:ext uri="{FF2B5EF4-FFF2-40B4-BE49-F238E27FC236}">
                <a16:creationId xmlns:a16="http://schemas.microsoft.com/office/drawing/2014/main" id="{8857CF73-A49D-6EE9-E3A6-3EA2C24D2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2928" y="7545071"/>
            <a:ext cx="4419600" cy="132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/>
          <a:p>
            <a:pPr algn="r" eaLnBrk="1" hangingPunct="1"/>
            <a:r>
              <a:rPr lang="es-ES_tradnl" altLang="es-CO" sz="8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127%</a:t>
            </a:r>
          </a:p>
        </p:txBody>
      </p:sp>
    </p:spTree>
    <p:extLst>
      <p:ext uri="{BB962C8B-B14F-4D97-AF65-F5344CB8AC3E}">
        <p14:creationId xmlns:p14="http://schemas.microsoft.com/office/powerpoint/2010/main" val="2347049136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6413-D17C-4E21-46FD-8127B919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22254AF-ACC6-31FA-DEEB-C8DC0C109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64980" cy="701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ES_tradnl" altLang="es-CO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61800CC-B8C4-B3CE-170A-3EDF0CF3E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 dirty="0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8FA42FD4-71DE-47ED-AC1E-295623EFCFF3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12</a:t>
            </a:fld>
            <a:endParaRPr lang="es-ES" altLang="es-ES" b="1" dirty="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108C98-9797-1365-0F11-4B58093B0AE7}"/>
              </a:ext>
            </a:extLst>
          </p:cNvPr>
          <p:cNvSpPr txBox="1"/>
          <p:nvPr/>
        </p:nvSpPr>
        <p:spPr>
          <a:xfrm>
            <a:off x="1341120" y="1804124"/>
            <a:ext cx="15605760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Viabilidad Demostrada</a:t>
            </a:r>
            <a:endParaRPr lang="es-E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valida la hipótesis. Es técnica y económicamente viable usar IA (LSTM) para predecir fallos con alta fiabilidad.</a:t>
            </a:r>
          </a:p>
          <a:p>
            <a:pPr>
              <a:buNone/>
            </a:pPr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Idoneidad del Modelo</a:t>
            </a:r>
            <a:endParaRPr lang="es-E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redes LSTM son idóneas para capturar patrones de degradación en series temporales industriales multivariadas.</a:t>
            </a:r>
          </a:p>
          <a:p>
            <a:pPr>
              <a:buNone/>
            </a:pPr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Datos son Clave</a:t>
            </a:r>
            <a:r>
              <a:rPr lang="es-E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None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éxito del proyecto dependió críticamente del pipeline de datos, especialmente del manejo del desbalance con SMOTE.</a:t>
            </a:r>
          </a:p>
          <a:p>
            <a:pPr>
              <a:buNone/>
            </a:pPr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 de Negocio </a:t>
            </a:r>
          </a:p>
          <a:p>
            <a:pPr>
              <a:buNone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análisis de retorno de inversión justifica la implementación de la plataforma.</a:t>
            </a:r>
          </a:p>
          <a:p>
            <a:pPr>
              <a:buNone/>
            </a:pPr>
            <a:endParaRPr lang="es-E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800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Contribuciones Principales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arquitectura de referencia serverless y escalable en AWS.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metodología validada que conecta métricas técnicas con métricas de negocio (ROI).</a:t>
            </a:r>
          </a:p>
        </p:txBody>
      </p:sp>
    </p:spTree>
    <p:extLst>
      <p:ext uri="{BB962C8B-B14F-4D97-AF65-F5344CB8AC3E}">
        <p14:creationId xmlns:p14="http://schemas.microsoft.com/office/powerpoint/2010/main" val="229885603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7A8910-B8BB-BF10-2058-3BD6B1CBDBE0}"/>
              </a:ext>
            </a:extLst>
          </p:cNvPr>
          <p:cNvSpPr txBox="1"/>
          <p:nvPr/>
        </p:nvSpPr>
        <p:spPr>
          <a:xfrm>
            <a:off x="5591175" y="4589463"/>
            <a:ext cx="710565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 dirty="0">
                <a:solidFill>
                  <a:schemeClr val="accent1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muchas </a:t>
            </a:r>
            <a:r>
              <a:rPr lang="es-ES_tradnl" sz="6600" b="1" dirty="0">
                <a:solidFill>
                  <a:schemeClr val="accent5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gracias</a:t>
            </a:r>
          </a:p>
        </p:txBody>
      </p:sp>
      <p:grpSp>
        <p:nvGrpSpPr>
          <p:cNvPr id="19459" name="Group 3">
            <a:extLst>
              <a:ext uri="{FF2B5EF4-FFF2-40B4-BE49-F238E27FC236}">
                <a16:creationId xmlns:a16="http://schemas.microsoft.com/office/drawing/2014/main" id="{9B8BD660-C5FD-90FC-9F48-7659497764B6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6200B14-0FAA-345F-BB3C-0D1A22822991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0EB917E-DD22-7F06-284C-557A0C27C598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0" name="Group 7">
            <a:extLst>
              <a:ext uri="{FF2B5EF4-FFF2-40B4-BE49-F238E27FC236}">
                <a16:creationId xmlns:a16="http://schemas.microsoft.com/office/drawing/2014/main" id="{AB83FC9D-E924-6262-5966-3F3D22BEF51F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BEB4E23-73A7-D437-C1E5-7A4AD47BFA3E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1539F6C-ED97-CC76-F199-228B146A62E8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5D3D3F7D080B24C8476E3B6E25F8221" ma:contentTypeVersion="5" ma:contentTypeDescription="Crear nuevo documento." ma:contentTypeScope="" ma:versionID="c8969e09241f5499dc00959b61b5df08">
  <xsd:schema xmlns:xsd="http://www.w3.org/2001/XMLSchema" xmlns:xs="http://www.w3.org/2001/XMLSchema" xmlns:p="http://schemas.microsoft.com/office/2006/metadata/properties" xmlns:ns3="034fde9b-0ab7-44d2-aaa3-837b66fe44d7" targetNamespace="http://schemas.microsoft.com/office/2006/metadata/properties" ma:root="true" ma:fieldsID="97d0976e34d9ee8109582d54618f9f14" ns3:_="">
    <xsd:import namespace="034fde9b-0ab7-44d2-aaa3-837b66fe44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4fde9b-0ab7-44d2-aaa3-837b66fe44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110C50-9D6E-492A-BD44-170BEC25D3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61AFDB-5B1F-4FAF-A547-89ADE1EE951F}">
  <ds:schemaRefs>
    <ds:schemaRef ds:uri="http://purl.org/dc/dcmitype/"/>
    <ds:schemaRef ds:uri="http://www.w3.org/XML/1998/namespace"/>
    <ds:schemaRef ds:uri="http://purl.org/dc/elements/1.1/"/>
    <ds:schemaRef ds:uri="034fde9b-0ab7-44d2-aaa3-837b66fe44d7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A9EC89D-514D-4493-9617-59FC3D3BD5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4fde9b-0ab7-44d2-aaa3-837b66fe44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15457</TotalTime>
  <Words>739</Words>
  <Application>Microsoft Office PowerPoint</Application>
  <PresentationFormat>Personalizado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5" baseType="lpstr">
      <vt:lpstr>Franklin Gothic Book</vt:lpstr>
      <vt:lpstr>Arial</vt:lpstr>
      <vt:lpstr>Franklin Gothic Medium</vt:lpstr>
      <vt:lpstr>Lucida Grande</vt:lpstr>
      <vt:lpstr>Courier New</vt:lpstr>
      <vt:lpstr>Wingdings</vt:lpstr>
      <vt:lpstr>Calibri</vt:lpstr>
      <vt:lpstr>Roboto Black</vt:lpstr>
      <vt:lpstr>Roboto Condensed</vt:lpstr>
      <vt:lpstr>Lato Semibold</vt:lpstr>
      <vt:lpstr>TEAM SLIDES</vt:lpstr>
      <vt:lpstr>1_TEAM SLIDES</vt:lpstr>
      <vt:lpstr>Presentación de PowerPoint</vt:lpstr>
      <vt:lpstr>Presentación de PowerPoint</vt:lpstr>
      <vt:lpstr>Introducción y Motivación</vt:lpstr>
      <vt:lpstr>Objetivos del Proyecto</vt:lpstr>
      <vt:lpstr>Metodología</vt:lpstr>
      <vt:lpstr>Arquitectura Tecnológica</vt:lpstr>
      <vt:lpstr>Diseño del Modelo</vt:lpstr>
      <vt:lpstr>Resultados del Entrenamiento</vt:lpstr>
      <vt:lpstr>Resultados de Evaluación</vt:lpstr>
      <vt:lpstr>Discusión de Métricas</vt:lpstr>
      <vt:lpstr>Validación Económica</vt:lpstr>
      <vt:lpstr>Conclusiones</vt:lpstr>
      <vt:lpstr>Presentación de PowerPoint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harol smith estevez gil</cp:lastModifiedBy>
  <cp:revision>1293</cp:revision>
  <dcterms:created xsi:type="dcterms:W3CDTF">2015-01-20T11:47:48Z</dcterms:created>
  <dcterms:modified xsi:type="dcterms:W3CDTF">2025-11-13T17:50:13Z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0x010100F5D3D3F7D080B24C8476E3B6E25F8221</vt:lpwstr>
  </property>
</Properties>
</file>